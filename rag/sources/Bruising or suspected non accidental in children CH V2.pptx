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4605" autoAdjust="0"/>
    <p:restoredTop sz="86375" autoAdjust="0"/>
  </p:normalViewPr>
  <p:slideViewPr>
    <p:cSldViewPr snapToGrid="0">
      <p:cViewPr varScale="1">
        <p:scale>
          <a:sx n="58" d="100"/>
          <a:sy n="58" d="100"/>
        </p:scale>
        <p:origin x="78" y="4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94160D-433C-4FCC-94F9-B3E738ECCA03}" type="datetimeFigureOut">
              <a:rPr lang="en-GB" smtClean="0"/>
              <a:t>19/07/2021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52957-9AB3-4FE1-BBD0-DAA8F0C26E18}" type="slidenum">
              <a:rPr lang="en-GB" smtClean="0"/>
              <a:t>‹#›</a:t>
            </a:fld>
            <a:endParaRPr lang="en-GB"/>
          </a:p>
        </p:txBody>
      </p:sp>
    </p:spTree>
    <p:extLst>
      <p:ext uri="{BB962C8B-B14F-4D97-AF65-F5344CB8AC3E}">
        <p14:creationId xmlns:p14="http://schemas.microsoft.com/office/powerpoint/2010/main" val="3361592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DA3A0CE-304B-47CC-8AA4-1F0814B47AE4}" type="datetimeFigureOut">
              <a:rPr lang="en-GB" smtClean="0"/>
              <a:t>19/07/2021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2474905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DA3A0CE-304B-47CC-8AA4-1F0814B47AE4}" type="datetimeFigureOut">
              <a:rPr lang="en-GB" smtClean="0"/>
              <a:t>19/07/2021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4215116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A3A0CE-304B-47CC-8AA4-1F0814B47AE4}" type="datetimeFigureOut">
              <a:rPr lang="en-GB" smtClean="0"/>
              <a:t>19/07/2021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1762929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DA3A0CE-304B-47CC-8AA4-1F0814B47AE4}" type="datetimeFigureOut">
              <a:rPr lang="en-GB" smtClean="0"/>
              <a:t>19/07/2021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4020552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DA3A0CE-304B-47CC-8AA4-1F0814B47AE4}" type="datetimeFigureOut">
              <a:rPr lang="en-GB" smtClean="0"/>
              <a:t>19/07/2021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2493135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DA3A0CE-304B-47CC-8AA4-1F0814B47AE4}" type="datetimeFigureOut">
              <a:rPr lang="en-GB" smtClean="0"/>
              <a:t>19/07/2021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2643526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A3A0CE-304B-47CC-8AA4-1F0814B47AE4}" type="datetimeFigureOut">
              <a:rPr lang="en-GB" smtClean="0"/>
              <a:t>19/07/2021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379936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A3A0CE-304B-47CC-8AA4-1F0814B47AE4}" type="datetimeFigureOut">
              <a:rPr lang="en-GB" smtClean="0"/>
              <a:t>19/07/2021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14937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A3A0CE-304B-47CC-8AA4-1F0814B47AE4}" type="datetimeFigureOut">
              <a:rPr lang="en-GB" smtClean="0"/>
              <a:t>19/07/2021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1635862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DA3A0CE-304B-47CC-8AA4-1F0814B47AE4}" type="datetimeFigureOut">
              <a:rPr lang="en-GB" smtClean="0"/>
              <a:t>19/07/2021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811542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DA3A0CE-304B-47CC-8AA4-1F0814B47AE4}" type="datetimeFigureOut">
              <a:rPr lang="en-GB" smtClean="0"/>
              <a:t>19/07/2021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2C50C8-67C5-4AC3-9A8E-D6D696FE3141}" type="slidenum">
              <a:rPr lang="en-GB" smtClean="0"/>
              <a:t>‹#›</a:t>
            </a:fld>
            <a:endParaRPr lang="en-GB"/>
          </a:p>
        </p:txBody>
      </p:sp>
    </p:spTree>
    <p:extLst>
      <p:ext uri="{BB962C8B-B14F-4D97-AF65-F5344CB8AC3E}">
        <p14:creationId xmlns:p14="http://schemas.microsoft.com/office/powerpoint/2010/main" val="369901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3A0CE-304B-47CC-8AA4-1F0814B47AE4}" type="datetimeFigureOut">
              <a:rPr lang="en-GB" smtClean="0"/>
              <a:t>19/07/2021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2C50C8-67C5-4AC3-9A8E-D6D696FE3141}" type="slidenum">
              <a:rPr lang="en-GB" smtClean="0"/>
              <a:t>‹#›</a:t>
            </a:fld>
            <a:endParaRPr lang="en-GB"/>
          </a:p>
        </p:txBody>
      </p:sp>
    </p:spTree>
    <p:extLst>
      <p:ext uri="{BB962C8B-B14F-4D97-AF65-F5344CB8AC3E}">
        <p14:creationId xmlns:p14="http://schemas.microsoft.com/office/powerpoint/2010/main" val="3050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Grp="1" noChangeArrowheads="1"/>
          </p:cNvSpPr>
          <p:nvPr>
            <p:ph type="ctrTitle"/>
          </p:nvPr>
        </p:nvSpPr>
        <p:spPr bwMode="auto">
          <a:xfrm>
            <a:off x="766618" y="243619"/>
            <a:ext cx="9998189" cy="412451"/>
          </a:xfrm>
          <a:prstGeom prst="rect">
            <a:avLst/>
          </a:prstGeom>
          <a:ln>
            <a:solidFill>
              <a:schemeClr val="tx1"/>
            </a:solidFill>
            <a:headEnd/>
            <a:tailEnd/>
          </a:ln>
        </p:spPr>
        <p:style>
          <a:lnRef idx="2">
            <a:schemeClr val="accent5"/>
          </a:lnRef>
          <a:fillRef idx="1">
            <a:schemeClr val="lt1"/>
          </a:fillRef>
          <a:effectRef idx="0">
            <a:schemeClr val="accent5"/>
          </a:effectRef>
          <a:fontRef idx="minor">
            <a:schemeClr val="dk1"/>
          </a:fontRef>
        </p:style>
        <p:txBody>
          <a:bodyPr rot="0" vert="horz" wrap="square" lIns="91440" tIns="45720" rIns="91440" bIns="45720" anchor="t" anchorCtr="0">
            <a:noAutofit/>
          </a:bodyPr>
          <a:lstStyle/>
          <a:p>
            <a:pPr algn="ctr">
              <a:lnSpc>
                <a:spcPct val="107000"/>
              </a:lnSpc>
              <a:spcAft>
                <a:spcPts val="0"/>
              </a:spcAft>
            </a:pPr>
            <a:r>
              <a:rPr lang="en-GB" sz="2000" b="1" dirty="0" smtClean="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Suspected </a:t>
            </a:r>
            <a:r>
              <a:rPr lang="en-GB" sz="2000" b="1"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non accidental </a:t>
            </a:r>
            <a:r>
              <a:rPr lang="en-GB" sz="2000" b="1" dirty="0" smtClean="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injury in </a:t>
            </a:r>
            <a:r>
              <a:rPr lang="en-GB" sz="2000" b="1"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children (NAI</a:t>
            </a:r>
            <a:r>
              <a:rPr lang="en-GB" sz="2000" b="1" dirty="0" smtClean="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guide for GP’s in Hackney</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ubtitle 2"/>
          <p:cNvSpPr txBox="1">
            <a:spLocks/>
          </p:cNvSpPr>
          <p:nvPr/>
        </p:nvSpPr>
        <p:spPr>
          <a:xfrm>
            <a:off x="485236" y="1733397"/>
            <a:ext cx="3686355" cy="1175333"/>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400" b="1" dirty="0">
                <a:latin typeface="Arial" panose="020B0604020202020204" pitchFamily="34" charset="0"/>
                <a:cs typeface="Arial" panose="020B0604020202020204" pitchFamily="34" charset="0"/>
              </a:rPr>
              <a:t>Any bruise / injury in a non-mobile child</a:t>
            </a:r>
            <a:r>
              <a:rPr lang="en-GB" sz="1400" dirty="0">
                <a:latin typeface="Arial" panose="020B0604020202020204" pitchFamily="34" charset="0"/>
                <a:cs typeface="Arial" panose="020B0604020202020204" pitchFamily="34" charset="0"/>
              </a:rPr>
              <a:t> or</a:t>
            </a:r>
            <a:r>
              <a:rPr lang="en-GB" sz="1400" b="1" dirty="0">
                <a:latin typeface="Arial" panose="020B0604020202020204" pitchFamily="34" charset="0"/>
                <a:cs typeface="Arial" panose="020B0604020202020204" pitchFamily="34" charset="0"/>
              </a:rPr>
              <a:t>  </a:t>
            </a:r>
            <a:endParaRPr lang="en-GB" sz="1400" dirty="0">
              <a:latin typeface="Arial" panose="020B0604020202020204" pitchFamily="34" charset="0"/>
              <a:cs typeface="Arial" panose="020B0604020202020204" pitchFamily="34" charset="0"/>
            </a:endParaRPr>
          </a:p>
          <a:p>
            <a:r>
              <a:rPr lang="en-GB" sz="1400" dirty="0">
                <a:latin typeface="Arial" panose="020B0604020202020204" pitchFamily="34" charset="0"/>
                <a:cs typeface="Arial" panose="020B0604020202020204" pitchFamily="34" charset="0"/>
              </a:rPr>
              <a:t>Any </a:t>
            </a:r>
            <a:r>
              <a:rPr lang="en-GB" sz="1400" b="1" dirty="0">
                <a:latin typeface="Arial" panose="020B0604020202020204" pitchFamily="34" charset="0"/>
                <a:cs typeface="Arial" panose="020B0604020202020204" pitchFamily="34" charset="0"/>
              </a:rPr>
              <a:t>suspicious</a:t>
            </a:r>
            <a:r>
              <a:rPr lang="en-GB" sz="1400" dirty="0">
                <a:latin typeface="Arial" panose="020B0604020202020204" pitchFamily="34" charset="0"/>
                <a:cs typeface="Arial" panose="020B0604020202020204" pitchFamily="34" charset="0"/>
              </a:rPr>
              <a:t> bruising / injury in a mobile child under the age of 2  </a:t>
            </a:r>
            <a:r>
              <a:rPr lang="en-GB" sz="1400" dirty="0" smtClean="0">
                <a:latin typeface="Arial" panose="020B0604020202020204" pitchFamily="34" charset="0"/>
                <a:cs typeface="Arial" panose="020B0604020202020204" pitchFamily="34" charset="0"/>
              </a:rPr>
              <a:t>suggestive of NAI</a:t>
            </a:r>
            <a:endParaRPr lang="en-GB" sz="1400" dirty="0">
              <a:latin typeface="Arial" panose="020B0604020202020204" pitchFamily="34" charset="0"/>
              <a:cs typeface="Arial" panose="020B0604020202020204" pitchFamily="34" charset="0"/>
            </a:endParaRPr>
          </a:p>
        </p:txBody>
      </p:sp>
      <p:sp>
        <p:nvSpPr>
          <p:cNvPr id="7" name="TextBox 6"/>
          <p:cNvSpPr txBox="1"/>
          <p:nvPr/>
        </p:nvSpPr>
        <p:spPr>
          <a:xfrm>
            <a:off x="485236" y="3445038"/>
            <a:ext cx="3686355" cy="2246769"/>
          </a:xfrm>
          <a:prstGeom prst="rect">
            <a:avLst/>
          </a:prstGeom>
          <a:ln>
            <a:solidFill>
              <a:schemeClr val="tx1"/>
            </a:solid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marL="342900" indent="-342900">
              <a:buFont typeface="+mj-lt"/>
              <a:buAutoNum type="arabicPeriod"/>
            </a:pPr>
            <a:r>
              <a:rPr lang="en-GB" sz="1400" dirty="0" smtClean="0">
                <a:latin typeface="Arial" panose="020B0604020202020204" pitchFamily="34" charset="0"/>
                <a:cs typeface="Arial" panose="020B0604020202020204" pitchFamily="34" charset="0"/>
              </a:rPr>
              <a:t>Discuss with On-call </a:t>
            </a:r>
            <a:r>
              <a:rPr lang="en-GB" sz="1400" dirty="0">
                <a:latin typeface="Arial" panose="020B0604020202020204" pitchFamily="34" charset="0"/>
                <a:cs typeface="Arial" panose="020B0604020202020204" pitchFamily="34" charset="0"/>
              </a:rPr>
              <a:t>Consultant Paediatrician </a:t>
            </a:r>
            <a:r>
              <a:rPr lang="en-GB" sz="1400" dirty="0" err="1" smtClean="0">
                <a:latin typeface="Arial" panose="020B0604020202020204" pitchFamily="34" charset="0"/>
                <a:cs typeface="Arial" panose="020B0604020202020204" pitchFamily="34" charset="0"/>
              </a:rPr>
              <a:t>Homerton</a:t>
            </a:r>
            <a:r>
              <a:rPr lang="en-GB" sz="1400" dirty="0" smtClean="0">
                <a:latin typeface="Arial" panose="020B0604020202020204" pitchFamily="34" charset="0"/>
                <a:cs typeface="Arial" panose="020B0604020202020204" pitchFamily="34" charset="0"/>
              </a:rPr>
              <a:t> switchboard on 0208 </a:t>
            </a:r>
            <a:r>
              <a:rPr lang="en-GB" sz="1400" dirty="0">
                <a:latin typeface="Arial" panose="020B0604020202020204" pitchFamily="34" charset="0"/>
                <a:cs typeface="Arial" panose="020B0604020202020204" pitchFamily="34" charset="0"/>
              </a:rPr>
              <a:t>510 5555   </a:t>
            </a:r>
            <a:endParaRPr lang="en-GB" sz="1400" dirty="0" smtClean="0">
              <a:latin typeface="Arial" panose="020B0604020202020204" pitchFamily="34" charset="0"/>
              <a:cs typeface="Arial" panose="020B0604020202020204" pitchFamily="34" charset="0"/>
            </a:endParaRPr>
          </a:p>
          <a:p>
            <a:pPr marL="342900" indent="-342900">
              <a:buFont typeface="+mj-lt"/>
              <a:buAutoNum type="arabicPeriod"/>
            </a:pPr>
            <a:r>
              <a:rPr lang="en-GB" sz="1400" dirty="0" smtClean="0">
                <a:latin typeface="Arial" panose="020B0604020202020204" pitchFamily="34" charset="0"/>
                <a:cs typeface="Arial" panose="020B0604020202020204" pitchFamily="34" charset="0"/>
              </a:rPr>
              <a:t>Immediate MASH referral </a:t>
            </a:r>
            <a:r>
              <a:rPr lang="en-GB" sz="1400" dirty="0">
                <a:latin typeface="Arial" panose="020B0604020202020204" pitchFamily="34" charset="0"/>
                <a:cs typeface="Arial" panose="020B0604020202020204" pitchFamily="34" charset="0"/>
              </a:rPr>
              <a:t>by telephone</a:t>
            </a:r>
            <a:r>
              <a:rPr lang="en-GB" sz="1400" dirty="0" smtClean="0">
                <a:latin typeface="Arial" panose="020B0604020202020204" pitchFamily="34" charset="0"/>
                <a:cs typeface="Arial" panose="020B0604020202020204" pitchFamily="34" charset="0"/>
              </a:rPr>
              <a:t>:</a:t>
            </a:r>
            <a:r>
              <a:rPr lang="en-GB" sz="1400" b="1" dirty="0" smtClean="0">
                <a:latin typeface="Arial" panose="020B0604020202020204" pitchFamily="34" charset="0"/>
                <a:cs typeface="Arial" panose="020B0604020202020204" pitchFamily="34" charset="0"/>
              </a:rPr>
              <a:t>  </a:t>
            </a:r>
            <a:r>
              <a:rPr lang="en-GB" sz="1400" dirty="0" smtClean="0">
                <a:latin typeface="Arial" panose="020B0604020202020204" pitchFamily="34" charset="0"/>
                <a:cs typeface="Arial" panose="020B0604020202020204" pitchFamily="34" charset="0"/>
              </a:rPr>
              <a:t>0208 </a:t>
            </a:r>
            <a:r>
              <a:rPr lang="en-GB" sz="1400" dirty="0">
                <a:latin typeface="Arial" panose="020B0604020202020204" pitchFamily="34" charset="0"/>
                <a:cs typeface="Arial" panose="020B0604020202020204" pitchFamily="34" charset="0"/>
              </a:rPr>
              <a:t>356 5500 (Mon-Fri 9am-5pm) </a:t>
            </a:r>
            <a:r>
              <a:rPr lang="en-GB" sz="1400" dirty="0" smtClean="0">
                <a:latin typeface="Arial" panose="020B0604020202020204" pitchFamily="34" charset="0"/>
                <a:cs typeface="Arial" panose="020B0604020202020204" pitchFamily="34" charset="0"/>
              </a:rPr>
              <a:t>or </a:t>
            </a:r>
            <a:r>
              <a:rPr lang="en-GB" sz="1400" dirty="0">
                <a:latin typeface="Arial" panose="020B0604020202020204" pitchFamily="34" charset="0"/>
                <a:cs typeface="Arial" panose="020B0604020202020204" pitchFamily="34" charset="0"/>
              </a:rPr>
              <a:t>020 8356 2710 </a:t>
            </a:r>
            <a:r>
              <a:rPr lang="en-GB" sz="1400" dirty="0" smtClean="0">
                <a:latin typeface="Arial" panose="020B0604020202020204" pitchFamily="34" charset="0"/>
                <a:cs typeface="Arial" panose="020B0604020202020204" pitchFamily="34" charset="0"/>
              </a:rPr>
              <a:t>out of hours / weekends / BH </a:t>
            </a:r>
          </a:p>
          <a:p>
            <a:pPr marL="342900" indent="-342900">
              <a:buFont typeface="+mj-lt"/>
              <a:buAutoNum type="arabicPeriod"/>
            </a:pPr>
            <a:r>
              <a:rPr lang="en-GB" sz="1400" dirty="0" smtClean="0">
                <a:latin typeface="Arial" panose="020B0604020202020204" pitchFamily="34" charset="0"/>
                <a:cs typeface="Arial" panose="020B0604020202020204" pitchFamily="34" charset="0"/>
              </a:rPr>
              <a:t>Follow </a:t>
            </a:r>
            <a:r>
              <a:rPr lang="en-GB" sz="1400" dirty="0">
                <a:latin typeface="Arial" panose="020B0604020202020204" pitchFamily="34" charset="0"/>
                <a:cs typeface="Arial" panose="020B0604020202020204" pitchFamily="34" charset="0"/>
              </a:rPr>
              <a:t>up </a:t>
            </a:r>
            <a:r>
              <a:rPr lang="en-GB" sz="1400" dirty="0" smtClean="0">
                <a:latin typeface="Arial" panose="020B0604020202020204" pitchFamily="34" charset="0"/>
                <a:cs typeface="Arial" panose="020B0604020202020204" pitchFamily="34" charset="0"/>
              </a:rPr>
              <a:t>interagency form (social services) referral – on CCG website</a:t>
            </a:r>
          </a:p>
          <a:p>
            <a:endParaRPr lang="en-GB" sz="1400" dirty="0">
              <a:latin typeface="Arial" panose="020B0604020202020204" pitchFamily="34" charset="0"/>
              <a:cs typeface="Arial" panose="020B0604020202020204" pitchFamily="34" charset="0"/>
            </a:endParaRPr>
          </a:p>
        </p:txBody>
      </p:sp>
      <p:sp>
        <p:nvSpPr>
          <p:cNvPr id="8" name="Subtitle 2"/>
          <p:cNvSpPr txBox="1">
            <a:spLocks/>
          </p:cNvSpPr>
          <p:nvPr/>
        </p:nvSpPr>
        <p:spPr>
          <a:xfrm>
            <a:off x="4498320" y="889881"/>
            <a:ext cx="3344176" cy="435383"/>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dirty="0" smtClean="0">
                <a:latin typeface="Arial" panose="020B0604020202020204" pitchFamily="34" charset="0"/>
                <a:cs typeface="Arial" panose="020B0604020202020204" pitchFamily="34" charset="0"/>
              </a:rPr>
              <a:t>Children over 2</a:t>
            </a:r>
            <a:endParaRPr lang="en-GB" sz="20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485236" y="889882"/>
            <a:ext cx="3686355" cy="435383"/>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dirty="0" smtClean="0">
                <a:latin typeface="Arial" panose="020B0604020202020204" pitchFamily="34" charset="0"/>
                <a:cs typeface="Arial" panose="020B0604020202020204" pitchFamily="34" charset="0"/>
              </a:rPr>
              <a:t>Children  under  2 </a:t>
            </a:r>
            <a:endParaRPr lang="en-GB" sz="2000" dirty="0">
              <a:latin typeface="Arial" panose="020B0604020202020204" pitchFamily="34" charset="0"/>
              <a:cs typeface="Arial" panose="020B0604020202020204" pitchFamily="34" charset="0"/>
            </a:endParaRPr>
          </a:p>
        </p:txBody>
      </p:sp>
      <p:sp>
        <p:nvSpPr>
          <p:cNvPr id="10" name="TextBox 9"/>
          <p:cNvSpPr txBox="1"/>
          <p:nvPr/>
        </p:nvSpPr>
        <p:spPr>
          <a:xfrm>
            <a:off x="5020035" y="4125595"/>
            <a:ext cx="6867165" cy="2246769"/>
          </a:xfrm>
          <a:prstGeom prst="rect">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GB" sz="1400" b="1" dirty="0" smtClean="0">
                <a:latin typeface="Arial" panose="020B0604020202020204" pitchFamily="34" charset="0"/>
                <a:cs typeface="Arial" panose="020B0604020202020204" pitchFamily="34" charset="0"/>
              </a:rPr>
              <a:t>Suspected Non accidental injury but</a:t>
            </a:r>
            <a:r>
              <a:rPr lang="en-GB" sz="1400" dirty="0">
                <a:latin typeface="Arial" panose="020B0604020202020204" pitchFamily="34" charset="0"/>
                <a:cs typeface="Arial" panose="020B0604020202020204" pitchFamily="34" charset="0"/>
              </a:rPr>
              <a:t> </a:t>
            </a:r>
            <a:r>
              <a:rPr lang="en-GB" sz="1400" dirty="0" smtClean="0">
                <a:latin typeface="Arial" panose="020B0604020202020204" pitchFamily="34" charset="0"/>
                <a:cs typeface="Arial" panose="020B0604020202020204" pitchFamily="34" charset="0"/>
              </a:rPr>
              <a:t>i</a:t>
            </a:r>
            <a:r>
              <a:rPr lang="en-GB" sz="1400" b="1" dirty="0" smtClean="0">
                <a:latin typeface="Arial" panose="020B0604020202020204" pitchFamily="34" charset="0"/>
                <a:cs typeface="Arial" panose="020B0604020202020204" pitchFamily="34" charset="0"/>
              </a:rPr>
              <a:t>mmediate </a:t>
            </a:r>
            <a:r>
              <a:rPr lang="en-GB" sz="1400" b="1" dirty="0">
                <a:latin typeface="Arial" panose="020B0604020202020204" pitchFamily="34" charset="0"/>
                <a:cs typeface="Arial" panose="020B0604020202020204" pitchFamily="34" charset="0"/>
              </a:rPr>
              <a:t>medical care </a:t>
            </a:r>
            <a:r>
              <a:rPr lang="en-GB" sz="1400" b="1" dirty="0" smtClean="0">
                <a:latin typeface="Arial" panose="020B0604020202020204" pitchFamily="34" charset="0"/>
                <a:cs typeface="Arial" panose="020B0604020202020204" pitchFamily="34" charset="0"/>
              </a:rPr>
              <a:t>NOT required </a:t>
            </a:r>
            <a:r>
              <a:rPr lang="en-GB" sz="1400" dirty="0">
                <a:latin typeface="Arial" panose="020B0604020202020204" pitchFamily="34" charset="0"/>
                <a:cs typeface="Arial" panose="020B0604020202020204" pitchFamily="34" charset="0"/>
              </a:rPr>
              <a:t> </a:t>
            </a:r>
          </a:p>
          <a:p>
            <a:pPr marL="342900" indent="-342900">
              <a:buFont typeface="+mj-lt"/>
              <a:buAutoNum type="arabicPeriod"/>
            </a:pPr>
            <a:r>
              <a:rPr lang="en-GB" sz="1400" dirty="0" smtClean="0">
                <a:latin typeface="Arial" panose="020B0604020202020204" pitchFamily="34" charset="0"/>
                <a:cs typeface="Arial" panose="020B0604020202020204" pitchFamily="34" charset="0"/>
              </a:rPr>
              <a:t> Immediate MASH referral </a:t>
            </a:r>
            <a:r>
              <a:rPr lang="en-GB" sz="1400" dirty="0">
                <a:latin typeface="Arial" panose="020B0604020202020204" pitchFamily="34" charset="0"/>
                <a:cs typeface="Arial" panose="020B0604020202020204" pitchFamily="34" charset="0"/>
              </a:rPr>
              <a:t>by telephone: 0208 356 5500 </a:t>
            </a:r>
          </a:p>
          <a:p>
            <a:pPr indent="361950"/>
            <a:r>
              <a:rPr lang="en-GB" sz="1400" b="1" dirty="0" smtClean="0">
                <a:latin typeface="Arial" panose="020B0604020202020204" pitchFamily="34" charset="0"/>
                <a:cs typeface="Arial" panose="020B0604020202020204" pitchFamily="34" charset="0"/>
              </a:rPr>
              <a:t> </a:t>
            </a:r>
            <a:r>
              <a:rPr lang="en-GB" sz="1400" dirty="0" smtClean="0">
                <a:latin typeface="Arial" panose="020B0604020202020204" pitchFamily="34" charset="0"/>
                <a:cs typeface="Arial" panose="020B0604020202020204" pitchFamily="34" charset="0"/>
              </a:rPr>
              <a:t>Out of hours , weekends </a:t>
            </a:r>
            <a:r>
              <a:rPr lang="en-GB" sz="1400" dirty="0">
                <a:latin typeface="Arial" panose="020B0604020202020204" pitchFamily="34" charset="0"/>
                <a:cs typeface="Arial" panose="020B0604020202020204" pitchFamily="34" charset="0"/>
              </a:rPr>
              <a:t>and Bank Holidays 020 8356 2710 </a:t>
            </a:r>
            <a:endParaRPr lang="en-GB" sz="1400" dirty="0" smtClean="0">
              <a:latin typeface="Arial" panose="020B0604020202020204" pitchFamily="34" charset="0"/>
              <a:cs typeface="Arial" panose="020B0604020202020204" pitchFamily="34" charset="0"/>
            </a:endParaRPr>
          </a:p>
          <a:p>
            <a:pPr indent="361950"/>
            <a:r>
              <a:rPr lang="en-GB" sz="1400" dirty="0">
                <a:latin typeface="Arial" panose="020B0604020202020204" pitchFamily="34" charset="0"/>
                <a:cs typeface="Arial" panose="020B0604020202020204" pitchFamily="34" charset="0"/>
              </a:rPr>
              <a:t>Email: MASH@hackney.gov.uk</a:t>
            </a:r>
            <a:endParaRPr lang="en-GB" sz="1400" dirty="0" smtClean="0">
              <a:latin typeface="Arial" panose="020B0604020202020204" pitchFamily="34" charset="0"/>
              <a:cs typeface="Arial" panose="020B0604020202020204" pitchFamily="34" charset="0"/>
            </a:endParaRPr>
          </a:p>
          <a:p>
            <a:r>
              <a:rPr lang="en-GB" sz="1400" dirty="0" smtClean="0">
                <a:latin typeface="Arial" panose="020B0604020202020204" pitchFamily="34" charset="0"/>
                <a:cs typeface="Arial" panose="020B0604020202020204" pitchFamily="34" charset="0"/>
              </a:rPr>
              <a:t>2.    Follow up  referral to childrens social care via interagency form on CCG website</a:t>
            </a:r>
          </a:p>
          <a:p>
            <a:endParaRPr lang="en-GB" sz="1400" dirty="0">
              <a:latin typeface="Arial" panose="020B0604020202020204" pitchFamily="34" charset="0"/>
              <a:cs typeface="Arial" panose="020B0604020202020204" pitchFamily="34" charset="0"/>
            </a:endParaRPr>
          </a:p>
          <a:p>
            <a:r>
              <a:rPr lang="en-GB" sz="1400" dirty="0" smtClean="0">
                <a:latin typeface="Arial" panose="020B0604020202020204" pitchFamily="34" charset="0"/>
                <a:cs typeface="Arial" panose="020B0604020202020204" pitchFamily="34" charset="0"/>
              </a:rPr>
              <a:t>The MASH team </a:t>
            </a:r>
            <a:r>
              <a:rPr lang="en-GB" sz="1400" dirty="0">
                <a:latin typeface="Arial" panose="020B0604020202020204" pitchFamily="34" charset="0"/>
                <a:cs typeface="Arial" panose="020B0604020202020204" pitchFamily="34" charset="0"/>
              </a:rPr>
              <a:t>will arrange a child protection </a:t>
            </a:r>
            <a:r>
              <a:rPr lang="en-GB" sz="1400" dirty="0" smtClean="0">
                <a:latin typeface="Arial" panose="020B0604020202020204" pitchFamily="34" charset="0"/>
                <a:cs typeface="Arial" panose="020B0604020202020204" pitchFamily="34" charset="0"/>
              </a:rPr>
              <a:t>medical</a:t>
            </a:r>
            <a:r>
              <a:rPr lang="en-GB" sz="1400" dirty="0">
                <a:latin typeface="Arial" panose="020B0604020202020204" pitchFamily="34" charset="0"/>
                <a:cs typeface="Arial" panose="020B0604020202020204" pitchFamily="34" charset="0"/>
              </a:rPr>
              <a:t> </a:t>
            </a:r>
            <a:r>
              <a:rPr lang="en-GB" sz="1400" dirty="0" smtClean="0">
                <a:latin typeface="Arial" panose="020B0604020202020204" pitchFamily="34" charset="0"/>
                <a:cs typeface="Arial" panose="020B0604020202020204" pitchFamily="34" charset="0"/>
              </a:rPr>
              <a:t>via Hackney Arc Community Paediatric Team </a:t>
            </a:r>
            <a:endParaRPr lang="en-GB" sz="1400" dirty="0">
              <a:latin typeface="Arial" panose="020B0604020202020204" pitchFamily="34" charset="0"/>
              <a:cs typeface="Arial" panose="020B0604020202020204" pitchFamily="34" charset="0"/>
            </a:endParaRPr>
          </a:p>
          <a:p>
            <a:r>
              <a:rPr lang="en-GB" sz="1400" smtClean="0">
                <a:latin typeface="Arial" panose="020B0604020202020204" pitchFamily="34" charset="0"/>
                <a:cs typeface="Arial" panose="020B0604020202020204" pitchFamily="34" charset="0"/>
              </a:rPr>
              <a:t>These </a:t>
            </a:r>
            <a:r>
              <a:rPr lang="en-GB" sz="1400" dirty="0">
                <a:latin typeface="Arial" panose="020B0604020202020204" pitchFamily="34" charset="0"/>
                <a:cs typeface="Arial" panose="020B0604020202020204" pitchFamily="34" charset="0"/>
              </a:rPr>
              <a:t>children should not be sent to the Emergency Department as they do not require immediate medical attention.</a:t>
            </a:r>
          </a:p>
        </p:txBody>
      </p:sp>
      <p:sp>
        <p:nvSpPr>
          <p:cNvPr id="11" name="Subtitle 2"/>
          <p:cNvSpPr txBox="1">
            <a:spLocks/>
          </p:cNvSpPr>
          <p:nvPr/>
        </p:nvSpPr>
        <p:spPr>
          <a:xfrm>
            <a:off x="4515924" y="1714253"/>
            <a:ext cx="3344176" cy="1449778"/>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600" b="1" dirty="0" smtClean="0">
                <a:latin typeface="Arial" panose="020B0604020202020204" pitchFamily="34" charset="0"/>
                <a:cs typeface="Arial" panose="020B0604020202020204" pitchFamily="34" charset="0"/>
              </a:rPr>
              <a:t>Does the child require urgent medical care in an A&amp;E setting? Examples or injuries (not exhaustive) </a:t>
            </a:r>
          </a:p>
          <a:p>
            <a:r>
              <a:rPr lang="en-GB" sz="1600" i="1" dirty="0" smtClean="0">
                <a:latin typeface="Arial" panose="020B0604020202020204" pitchFamily="34" charset="0"/>
                <a:cs typeface="Arial" panose="020B0604020202020204" pitchFamily="34" charset="0"/>
              </a:rPr>
              <a:t>Serious head injuries / Possible fractures / major abdominal bruising indicative of internal organ damage, significant lacerations / new burns </a:t>
            </a:r>
            <a:endParaRPr lang="en-GB" sz="1600" dirty="0" smtClean="0">
              <a:latin typeface="Arial" panose="020B0604020202020204" pitchFamily="34" charset="0"/>
              <a:cs typeface="Arial" panose="020B0604020202020204" pitchFamily="34" charset="0"/>
            </a:endParaRPr>
          </a:p>
          <a:p>
            <a:endParaRPr lang="en-GB" sz="1600" b="1" dirty="0" smtClean="0"/>
          </a:p>
          <a:p>
            <a:endParaRPr lang="en-GB" sz="1600" dirty="0"/>
          </a:p>
          <a:p>
            <a:endParaRPr lang="en-GB" dirty="0"/>
          </a:p>
        </p:txBody>
      </p:sp>
      <p:sp>
        <p:nvSpPr>
          <p:cNvPr id="13" name="Bent Arrow 12"/>
          <p:cNvSpPr/>
          <p:nvPr/>
        </p:nvSpPr>
        <p:spPr>
          <a:xfrm rot="10800000">
            <a:off x="4217041" y="3203201"/>
            <a:ext cx="1855018" cy="757202"/>
          </a:xfrm>
          <a:prstGeom prst="bentArrow">
            <a:avLst>
              <a:gd name="adj1" fmla="val 25000"/>
              <a:gd name="adj2" fmla="val 23754"/>
              <a:gd name="adj3" fmla="val 25000"/>
              <a:gd name="adj4" fmla="val 4375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Subtitle 2"/>
          <p:cNvSpPr txBox="1">
            <a:spLocks/>
          </p:cNvSpPr>
          <p:nvPr/>
        </p:nvSpPr>
        <p:spPr>
          <a:xfrm>
            <a:off x="4893610" y="3553360"/>
            <a:ext cx="597330" cy="407043"/>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400" b="1" dirty="0" smtClean="0">
                <a:latin typeface="Arial" panose="020B0604020202020204" pitchFamily="34" charset="0"/>
                <a:cs typeface="Arial" panose="020B0604020202020204" pitchFamily="34" charset="0"/>
              </a:rPr>
              <a:t>Yes</a:t>
            </a:r>
            <a:r>
              <a:rPr lang="en-GB" sz="1400" dirty="0" smtClean="0">
                <a:latin typeface="Arial" panose="020B0604020202020204" pitchFamily="34" charset="0"/>
                <a:cs typeface="Arial" panose="020B0604020202020204" pitchFamily="34" charset="0"/>
              </a:rPr>
              <a:t> </a:t>
            </a:r>
            <a:endParaRPr lang="en-GB" sz="1400" dirty="0">
              <a:latin typeface="Arial" panose="020B0604020202020204" pitchFamily="34" charset="0"/>
              <a:cs typeface="Arial" panose="020B0604020202020204" pitchFamily="34" charset="0"/>
            </a:endParaRPr>
          </a:p>
        </p:txBody>
      </p:sp>
      <p:sp>
        <p:nvSpPr>
          <p:cNvPr id="17" name="Down Arrow 16"/>
          <p:cNvSpPr/>
          <p:nvPr/>
        </p:nvSpPr>
        <p:spPr>
          <a:xfrm>
            <a:off x="2048855" y="1438911"/>
            <a:ext cx="366805" cy="230139"/>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Down Arrow 17"/>
          <p:cNvSpPr/>
          <p:nvPr/>
        </p:nvSpPr>
        <p:spPr>
          <a:xfrm>
            <a:off x="2048855" y="3030312"/>
            <a:ext cx="366805" cy="326381"/>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p:cNvSpPr txBox="1"/>
          <p:nvPr/>
        </p:nvSpPr>
        <p:spPr>
          <a:xfrm>
            <a:off x="8204433" y="877405"/>
            <a:ext cx="3682767" cy="1892826"/>
          </a:xfrm>
          <a:prstGeom prst="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300" b="1" u="sng" dirty="0">
                <a:latin typeface="Arial" panose="020B0604020202020204" pitchFamily="34" charset="0"/>
                <a:cs typeface="Arial" panose="020B0604020202020204" pitchFamily="34" charset="0"/>
              </a:rPr>
              <a:t>Child disclosures and is in fear of returning home:</a:t>
            </a:r>
            <a:endParaRPr lang="en-GB" sz="1300" dirty="0">
              <a:latin typeface="Arial" panose="020B0604020202020204" pitchFamily="34" charset="0"/>
              <a:cs typeface="Arial" panose="020B0604020202020204" pitchFamily="34" charset="0"/>
            </a:endParaRPr>
          </a:p>
          <a:p>
            <a:pPr lvl="0" algn="just"/>
            <a:r>
              <a:rPr lang="en-GB" sz="1300" dirty="0">
                <a:latin typeface="Arial" panose="020B0604020202020204" pitchFamily="34" charset="0"/>
                <a:cs typeface="Arial" panose="020B0604020202020204" pitchFamily="34" charset="0"/>
              </a:rPr>
              <a:t>URGENT MASH referral clearly stating child is unable to return home. </a:t>
            </a:r>
          </a:p>
          <a:p>
            <a:pPr lvl="0" algn="just"/>
            <a:r>
              <a:rPr lang="en-GB" sz="1300" dirty="0">
                <a:latin typeface="Arial" panose="020B0604020202020204" pitchFamily="34" charset="0"/>
                <a:cs typeface="Arial" panose="020B0604020202020204" pitchFamily="34" charset="0"/>
              </a:rPr>
              <a:t>Keep in surgery as place of safety until MASH advise on safe disposition. Police can be informed. If surgery closing imminently, discuss with MASH re need to contact police to arrange temporary place of safety.</a:t>
            </a:r>
          </a:p>
        </p:txBody>
      </p:sp>
      <p:sp>
        <p:nvSpPr>
          <p:cNvPr id="20" name="TextBox 19"/>
          <p:cNvSpPr txBox="1"/>
          <p:nvPr/>
        </p:nvSpPr>
        <p:spPr>
          <a:xfrm>
            <a:off x="8204433" y="3013693"/>
            <a:ext cx="3682767" cy="892552"/>
          </a:xfrm>
          <a:prstGeom prst="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just"/>
            <a:r>
              <a:rPr lang="en-GB" sz="1300" b="1" dirty="0" smtClean="0">
                <a:latin typeface="Arial" panose="020B0604020202020204" pitchFamily="34" charset="0"/>
                <a:cs typeface="Arial" panose="020B0604020202020204" pitchFamily="34" charset="0"/>
              </a:rPr>
              <a:t>Disability</a:t>
            </a:r>
            <a:r>
              <a:rPr lang="en-GB" sz="1300" dirty="0" smtClean="0">
                <a:latin typeface="Arial" panose="020B0604020202020204" pitchFamily="34" charset="0"/>
                <a:cs typeface="Arial" panose="020B0604020202020204" pitchFamily="34" charset="0"/>
              </a:rPr>
              <a:t>: Children </a:t>
            </a:r>
            <a:r>
              <a:rPr lang="en-GB" sz="1300" dirty="0">
                <a:latin typeface="Arial" panose="020B0604020202020204" pitchFamily="34" charset="0"/>
                <a:cs typeface="Arial" panose="020B0604020202020204" pitchFamily="34" charset="0"/>
              </a:rPr>
              <a:t>with disabilities are at greater risk of </a:t>
            </a:r>
            <a:r>
              <a:rPr lang="en-GB" sz="1300" dirty="0" smtClean="0">
                <a:latin typeface="Arial" panose="020B0604020202020204" pitchFamily="34" charset="0"/>
                <a:cs typeface="Arial" panose="020B0604020202020204" pitchFamily="34" charset="0"/>
              </a:rPr>
              <a:t>NAI. Remember </a:t>
            </a:r>
            <a:r>
              <a:rPr lang="en-GB" sz="1300" dirty="0">
                <a:latin typeface="Arial" panose="020B0604020202020204" pitchFamily="34" charset="0"/>
                <a:cs typeface="Arial" panose="020B0604020202020204" pitchFamily="34" charset="0"/>
              </a:rPr>
              <a:t>to consider their developmental function in relation to their injuries. </a:t>
            </a:r>
          </a:p>
        </p:txBody>
      </p:sp>
      <p:sp>
        <p:nvSpPr>
          <p:cNvPr id="22" name="Down Arrow 21"/>
          <p:cNvSpPr/>
          <p:nvPr/>
        </p:nvSpPr>
        <p:spPr>
          <a:xfrm>
            <a:off x="6062302" y="1434635"/>
            <a:ext cx="358111" cy="234415"/>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Down Arrow 23"/>
          <p:cNvSpPr/>
          <p:nvPr/>
        </p:nvSpPr>
        <p:spPr>
          <a:xfrm>
            <a:off x="6313913" y="3203201"/>
            <a:ext cx="479925" cy="883224"/>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Subtitle 2"/>
          <p:cNvSpPr txBox="1">
            <a:spLocks/>
          </p:cNvSpPr>
          <p:nvPr/>
        </p:nvSpPr>
        <p:spPr>
          <a:xfrm>
            <a:off x="6268463" y="3310247"/>
            <a:ext cx="597330" cy="407043"/>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400" b="1" dirty="0" smtClean="0">
                <a:latin typeface="Arial" panose="020B0604020202020204" pitchFamily="34" charset="0"/>
                <a:cs typeface="Arial" panose="020B0604020202020204" pitchFamily="34" charset="0"/>
              </a:rPr>
              <a:t>No</a:t>
            </a:r>
            <a:r>
              <a:rPr lang="en-GB" sz="1600" dirty="0" smtClean="0"/>
              <a:t> </a:t>
            </a:r>
            <a:endParaRPr lang="en-GB" sz="1600" dirty="0"/>
          </a:p>
        </p:txBody>
      </p:sp>
      <p:sp>
        <p:nvSpPr>
          <p:cNvPr id="2" name="Footer Placeholder 1"/>
          <p:cNvSpPr>
            <a:spLocks noGrp="1"/>
          </p:cNvSpPr>
          <p:nvPr>
            <p:ph type="ftr" sz="quarter" idx="11"/>
          </p:nvPr>
        </p:nvSpPr>
        <p:spPr/>
        <p:txBody>
          <a:bodyPr/>
          <a:lstStyle/>
          <a:p>
            <a:r>
              <a:rPr lang="en-GB" smtClean="0"/>
              <a:t>City and Hackney NAI flow chart V2</a:t>
            </a:r>
            <a:endParaRPr lang="en-GB"/>
          </a:p>
        </p:txBody>
      </p:sp>
      <p:sp>
        <p:nvSpPr>
          <p:cNvPr id="6" name="TextBox 5"/>
          <p:cNvSpPr txBox="1"/>
          <p:nvPr/>
        </p:nvSpPr>
        <p:spPr>
          <a:xfrm>
            <a:off x="485235" y="5934670"/>
            <a:ext cx="3440219" cy="800219"/>
          </a:xfrm>
          <a:prstGeom prst="rect">
            <a:avLst/>
          </a:prstGeom>
          <a:noFill/>
          <a:ln w="3175">
            <a:solidFill>
              <a:schemeClr val="tx1"/>
            </a:solidFill>
          </a:ln>
        </p:spPr>
        <p:txBody>
          <a:bodyPr wrap="square" rtlCol="0">
            <a:spAutoFit/>
          </a:bodyPr>
          <a:lstStyle/>
          <a:p>
            <a:r>
              <a:rPr lang="en-GB" sz="1400" b="1" dirty="0" smtClean="0"/>
              <a:t>All children with ANY child protection concerns should be seen face to face</a:t>
            </a:r>
            <a:r>
              <a:rPr lang="en-GB" dirty="0"/>
              <a:t> </a:t>
            </a:r>
            <a:r>
              <a:rPr lang="en-GB" sz="1400" b="1" dirty="0" smtClean="0"/>
              <a:t>by primary care.  </a:t>
            </a:r>
            <a:endParaRPr lang="en-GB" sz="1400" b="1" dirty="0"/>
          </a:p>
        </p:txBody>
      </p:sp>
    </p:spTree>
    <p:extLst>
      <p:ext uri="{BB962C8B-B14F-4D97-AF65-F5344CB8AC3E}">
        <p14:creationId xmlns:p14="http://schemas.microsoft.com/office/powerpoint/2010/main" val="620511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330</Words>
  <Application>Microsoft Office PowerPoint</Application>
  <PresentationFormat>Widescreen</PresentationFormat>
  <Paragraphs>27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Suspected non accidental injury in children (NAI)- guide for GP’s in Hackney</vt:lpstr>
    </vt:vector>
  </TitlesOfParts>
  <Company>NEL CSU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Bruising or suspected non accidental in children (NAI)</dc:title>
  <dc:creator>Tukmachi, Emma</dc:creator>
  <cp:lastModifiedBy>Tukmachi, Emma</cp:lastModifiedBy>
  <cp:revision>17</cp:revision>
  <dcterms:created xsi:type="dcterms:W3CDTF">2021-06-29T12:57:59Z</dcterms:created>
  <dcterms:modified xsi:type="dcterms:W3CDTF">2021-07-19T12:16:39Z</dcterms:modified>
</cp:coreProperties>
</file>